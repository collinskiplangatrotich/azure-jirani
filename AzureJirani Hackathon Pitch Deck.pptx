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Plus Jakarta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lusJakartaSans-bold.fntdata"/><Relationship Id="rId12" Type="http://schemas.openxmlformats.org/officeDocument/2006/relationships/font" Target="fonts/PlusJakarta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usJakartaSans-boldItalic.fntdata"/><Relationship Id="rId14" Type="http://schemas.openxmlformats.org/officeDocument/2006/relationships/font" Target="fonts/PlusJakarta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1.png"/><Relationship Id="rId8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4043362" y="1874490"/>
            <a:ext cx="4105275" cy="371475"/>
          </a:xfrm>
          <a:prstGeom prst="roundRect">
            <a:avLst>
              <a:gd fmla="val 50000" name="adj"/>
            </a:avLst>
          </a:prstGeom>
          <a:solidFill>
            <a:srgbClr val="122247"/>
          </a:solidFill>
          <a:ln cap="flat" cmpd="sng" w="95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3676650" y="4173735"/>
            <a:ext cx="4838700" cy="809625"/>
          </a:xfrm>
          <a:prstGeom prst="roundRect">
            <a:avLst>
              <a:gd fmla="val 18823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6276975" y="4407098"/>
            <a:ext cx="9525" cy="3429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1487" y="1974502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3976985" y="2474565"/>
            <a:ext cx="4238029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AzureJirani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333500" y="3297435"/>
            <a:ext cx="9525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Your Friendly AI Study Buddy for Microsoft Azure Fundamentals (AZ-900)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181475" y="1960215"/>
            <a:ext cx="41433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3C5F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Vibe Coding Hackathon: AZ-900 Prep Edition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067175" y="4373760"/>
            <a:ext cx="2476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CREATED BY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067175" y="4564260"/>
            <a:ext cx="24765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Collins Kiplangat Rotich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515100" y="4373760"/>
            <a:ext cx="201215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COMMUNITY MOVEMENT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515100" y="4564260"/>
            <a:ext cx="201215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#1MillionDevs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609600" y="2200275"/>
            <a:ext cx="3505200" cy="3429000"/>
          </a:xfrm>
          <a:prstGeom prst="roundRect">
            <a:avLst>
              <a:gd fmla="val 444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4343400" y="2200275"/>
            <a:ext cx="3505200" cy="3429000"/>
          </a:xfrm>
          <a:prstGeom prst="roundRect">
            <a:avLst>
              <a:gd fmla="val 444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8077200" y="2200275"/>
            <a:ext cx="3505200" cy="3429000"/>
          </a:xfrm>
          <a:prstGeom prst="roundRect">
            <a:avLst>
              <a:gd fmla="val 444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9500" y="69532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3925" y="3109912"/>
            <a:ext cx="28765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7725" y="2981325"/>
            <a:ext cx="28765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91525" y="2981325"/>
            <a:ext cx="287655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609600" y="533400"/>
            <a:ext cx="5153025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PROBLEM UNDERSTANDING (20%)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09600" y="771525"/>
            <a:ext cx="663832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Cloud Certification Barrier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23925" y="3567112"/>
            <a:ext cx="377547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Dense Abstract Jargon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23925" y="3948112"/>
            <a:ext cx="29718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Textbook definitions like CapEx vs. OpEx sound overly technical and detached from everyday reality.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4657725" y="3438525"/>
            <a:ext cx="377547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Cognitive Overload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4657725" y="3819525"/>
            <a:ext cx="2971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Beginner students get overwhelmed memorizing concepts without relatable mental models to make facts stick.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391525" y="3438525"/>
            <a:ext cx="377547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Missing Local Context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8391525" y="3819525"/>
            <a:ext cx="2971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Standard study aids lack localized African context, making technical concepts feel alien to self-taught learners.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/>
          <p:nvPr/>
        </p:nvSpPr>
        <p:spPr>
          <a:xfrm>
            <a:off x="609600" y="2028825"/>
            <a:ext cx="5172075" cy="107632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609600" y="3295650"/>
            <a:ext cx="5172075" cy="1076325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609600" y="4562475"/>
            <a:ext cx="5172075" cy="1076325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609600" y="2028825"/>
            <a:ext cx="38100" cy="10763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609600" y="3295650"/>
            <a:ext cx="38100" cy="107632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609600" y="4562475"/>
            <a:ext cx="38100" cy="107632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4" name="Google Shape;12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2675" y="1547812"/>
            <a:ext cx="5419725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671637"/>
            <a:ext cx="5172075" cy="432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SOLUTION &amp; PRODUCT (25%)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Introducing AzureJirani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838200" y="2219325"/>
            <a:ext cx="623827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Friendly AI Study Buddy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838200" y="2514600"/>
            <a:ext cx="48482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Translates dense Microsoft Azure syllabus topics into conversational, easy-to-digest explanations.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838200" y="3486150"/>
            <a:ext cx="623827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Local African Analogies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838200" y="3781425"/>
            <a:ext cx="48482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Uses everyday examples like bodaboda transport and mobile money to ground complex cloud architectures.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838200" y="4752975"/>
            <a:ext cx="623827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240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Interactive Quick-Start Cards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838200" y="5048250"/>
            <a:ext cx="48482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Instant prompt chips for concepts, analogies, and practice questions to guide study sessions.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/>
          <p:cNvSpPr/>
          <p:nvPr/>
        </p:nvSpPr>
        <p:spPr>
          <a:xfrm>
            <a:off x="609600" y="2095500"/>
            <a:ext cx="3473499" cy="1057275"/>
          </a:xfrm>
          <a:prstGeom prst="roundRect">
            <a:avLst>
              <a:gd fmla="val 1081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609600" y="3305175"/>
            <a:ext cx="3473499" cy="1057275"/>
          </a:xfrm>
          <a:prstGeom prst="roundRect">
            <a:avLst>
              <a:gd fmla="val 1081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609600" y="4514850"/>
            <a:ext cx="3473499" cy="1057275"/>
          </a:xfrm>
          <a:prstGeom prst="roundRect">
            <a:avLst>
              <a:gd fmla="val 1081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1" name="Google Shape;14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7899" y="1643062"/>
            <a:ext cx="7194500" cy="438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1724" y="1766887"/>
            <a:ext cx="2239416" cy="413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65441" y="1766887"/>
            <a:ext cx="2239416" cy="413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19158" y="1766887"/>
            <a:ext cx="2239416" cy="413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2333625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9625" y="3543300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9625" y="475297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 USERS &amp; EXPERIENCE (15%)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Relatable Learning in Action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809625" y="2295525"/>
            <a:ext cx="40339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 Learners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809625" y="2590800"/>
            <a:ext cx="31686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AZ-900 candidates, self-taught developers, and tech students across Africa.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809625" y="3505200"/>
            <a:ext cx="40339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Bodaboda Analogy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809625" y="3800475"/>
            <a:ext cx="31686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Buying a bike outright (CapEx) vs. renting daily for fare revenue (OpEx).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809625" y="4714875"/>
            <a:ext cx="40339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Verified Scope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809625" y="5010150"/>
            <a:ext cx="31686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Strictly aligned with official Microsoft Learn exam objectives.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/>
          <p:nvPr/>
        </p:nvSpPr>
        <p:spPr>
          <a:xfrm>
            <a:off x="609600" y="1504950"/>
            <a:ext cx="3505200" cy="1400175"/>
          </a:xfrm>
          <a:prstGeom prst="roundRect">
            <a:avLst>
              <a:gd fmla="val 1088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4343400" y="1504950"/>
            <a:ext cx="3505200" cy="1400175"/>
          </a:xfrm>
          <a:prstGeom prst="roundRect">
            <a:avLst>
              <a:gd fmla="val 1088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8077200" y="1504950"/>
            <a:ext cx="3505200" cy="1400175"/>
          </a:xfrm>
          <a:prstGeom prst="roundRect">
            <a:avLst>
              <a:gd fmla="val 1088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609600" y="3286125"/>
            <a:ext cx="5372100" cy="1114425"/>
          </a:xfrm>
          <a:prstGeom prst="roundRect">
            <a:avLst>
              <a:gd fmla="val 10256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6210300" y="3286125"/>
            <a:ext cx="5372100" cy="1114425"/>
          </a:xfrm>
          <a:prstGeom prst="roundRect">
            <a:avLst>
              <a:gd fmla="val 10256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5" name="Google Shape;16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55282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38900" y="3552825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609600" y="533400"/>
            <a:ext cx="110680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IMPACT &amp; SCALABILITY (20%)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Empowering the Next Million Developers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457200" y="1733550"/>
            <a:ext cx="3810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2x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457200" y="2476500"/>
            <a:ext cx="3810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Faster Concept Retention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4191000" y="1733550"/>
            <a:ext cx="3810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100%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4191000" y="2476500"/>
            <a:ext cx="3810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Localized &amp; Context-Aware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7924800" y="1733550"/>
            <a:ext cx="3810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AZ-900+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7924800" y="2476500"/>
            <a:ext cx="3810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Scalable to AI-900 &amp; SC-900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838200" y="3514725"/>
            <a:ext cx="645080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Immediate Educational Impact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838200" y="3810000"/>
            <a:ext cx="50101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Removes exam anxiety, makes self-directed cloud learning enjoyable, and helps students pass on their first attempt.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6438900" y="3514725"/>
            <a:ext cx="57531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Scalability &amp; Expansion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6438900" y="3810000"/>
            <a:ext cx="50101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Easy to adapt to other certifications and regional dialects across Africa and emerging global markets.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/>
          <p:nvPr/>
        </p:nvSpPr>
        <p:spPr>
          <a:xfrm>
            <a:off x="2700337" y="4052887"/>
            <a:ext cx="6791325" cy="942975"/>
          </a:xfrm>
          <a:prstGeom prst="roundRect">
            <a:avLst>
              <a:gd fmla="val 16161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6091237" y="4333875"/>
            <a:ext cx="9525" cy="381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5" name="Google Shape;18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00" y="1862137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2650" y="2033587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7062" y="4348162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81762" y="4348162"/>
            <a:ext cx="12382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 txBox="1"/>
          <p:nvPr/>
        </p:nvSpPr>
        <p:spPr>
          <a:xfrm>
            <a:off x="4489549" y="2700337"/>
            <a:ext cx="3212901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You!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2345531" y="3433762"/>
            <a:ext cx="750093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Empowering learners to master cloud computing with local context.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3167062" y="4329112"/>
            <a:ext cx="317896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LIVE WEB APP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3167062" y="4519612"/>
            <a:ext cx="31789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azurejirani-az-900-s-phll.bolt.hc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6481762" y="4329112"/>
            <a:ext cx="317896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GITHUB REPOSITORY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6481762" y="4519612"/>
            <a:ext cx="31789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collinskiplangatrotich/Azure-Jirani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